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328" r:id="rId47"/>
    <p:sldId id="329" r:id="rId48"/>
    <p:sldId id="330" r:id="rId49"/>
    <p:sldId id="331" r:id="rId50"/>
    <p:sldId id="332" r:id="rId51"/>
    <p:sldId id="333" r:id="rId52"/>
    <p:sldId id="334" r:id="rId53"/>
    <p:sldId id="335" r:id="rId54"/>
    <p:sldId id="336" r:id="rId55"/>
    <p:sldId id="337" r:id="rId56"/>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13389C-0A45-4FD2-BC6F-739DAA4D3E0C}" v="5" dt="2023-12-14T18:23:20.48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95337" autoAdjust="0"/>
  </p:normalViewPr>
  <p:slideViewPr>
    <p:cSldViewPr>
      <p:cViewPr varScale="1">
        <p:scale>
          <a:sx n="70" d="100"/>
          <a:sy n="70" d="100"/>
        </p:scale>
        <p:origin x="754"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34" Type="http://schemas.openxmlformats.org/officeDocument/2006/relationships/notesMaster" Target="notesMasters/notesMaster1.xml"/><Relationship Id="rId38" Type="http://schemas.openxmlformats.org/officeDocument/2006/relationships/tableStyles" Target="tableStyles.xml"/><Relationship Id="rId46" Type="http://schemas.microsoft.com/office/2015/10/relationships/revisionInfo" Target="revisionInfo.xml"/><Relationship Id="rId1" Type="http://schemas.openxmlformats.org/officeDocument/2006/relationships/slideMaster" Target="slideMasters/slideMaster1.xml"/><Relationship Id="rId37" Type="http://schemas.openxmlformats.org/officeDocument/2006/relationships/theme" Target="theme/theme1.xml"/><Relationship Id="rId45" Type="http://schemas.microsoft.com/office/2016/11/relationships/changesInfo" Target="changesInfos/changesInfo1.xml"/><Relationship Id="rId36" Type="http://schemas.openxmlformats.org/officeDocument/2006/relationships/viewProps" Target="viewProps.xml"/><Relationship Id="rId35" Type="http://schemas.openxmlformats.org/officeDocument/2006/relationships/presProps" Target="presProps.xml"/>  <Relationship Id="rId47" Type="http://schemas.openxmlformats.org/officeDocument/2006/relationships/slide" Target="slides/slide33.xml"/>
  <Relationship Id="rId48" Type="http://schemas.openxmlformats.org/officeDocument/2006/relationships/slide" Target="slides/slide34.xml"/>
  <Relationship Id="rId49" Type="http://schemas.openxmlformats.org/officeDocument/2006/relationships/slide" Target="slides/slide35.xml"/>
  <Relationship Id="rId50" Type="http://schemas.openxmlformats.org/officeDocument/2006/relationships/slide" Target="slides/slide36.xml"/>
  <Relationship Id="rId51" Type="http://schemas.openxmlformats.org/officeDocument/2006/relationships/slide" Target="slides/slide37.xml"/>
  <Relationship Id="rId52" Type="http://schemas.openxmlformats.org/officeDocument/2006/relationships/slide" Target="slides/slide38.xml"/>
  <Relationship Id="rId53" Type="http://schemas.openxmlformats.org/officeDocument/2006/relationships/slide" Target="slides/slide39.xml"/>
  <Relationship Id="rId54" Type="http://schemas.openxmlformats.org/officeDocument/2006/relationships/slide" Target="slides/slide40.xml"/>
  <Relationship Id="rId55" Type="http://schemas.openxmlformats.org/officeDocument/2006/relationships/slide" Target="slides/slide41.xml"/>
  <Relationship Id="rId56" Type="http://schemas.openxmlformats.org/officeDocument/2006/relationships/slide" Target="slides/slide4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bari Radhakrishnan" userId="b5f50551000becc5" providerId="LiveId" clId="{2213389C-0A45-4FD2-BC6F-739DAA4D3E0C}"/>
    <pc:docChg chg="custSel addSld delSld modSld">
      <pc:chgData name="Sabari Radhakrishnan" userId="b5f50551000becc5" providerId="LiveId" clId="{2213389C-0A45-4FD2-BC6F-739DAA4D3E0C}" dt="2023-12-14T18:25:17.991" v="41" actId="2696"/>
      <pc:docMkLst>
        <pc:docMk/>
      </pc:docMkLst>
      <pc:sldChg chg="modSp mod">
        <pc:chgData name="Sabari Radhakrishnan" userId="b5f50551000becc5" providerId="LiveId" clId="{2213389C-0A45-4FD2-BC6F-739DAA4D3E0C}" dt="2023-12-14T18:12:57.839" v="13" actId="20577"/>
        <pc:sldMkLst>
          <pc:docMk/>
          <pc:sldMk cId="0" sldId="257"/>
        </pc:sldMkLst>
        <pc:spChg chg="mod">
          <ac:chgData name="Sabari Radhakrishnan" userId="b5f50551000becc5" providerId="LiveId" clId="{2213389C-0A45-4FD2-BC6F-739DAA4D3E0C}" dt="2023-12-14T18:12:57.839" v="13" actId="20577"/>
          <ac:spMkLst>
            <pc:docMk/>
            <pc:sldMk cId="0" sldId="257"/>
            <ac:spMk id="5" creationId="{EC158AA3-055F-C297-70BF-8D23EC7FA482}"/>
          </ac:spMkLst>
        </pc:spChg>
      </pc:sldChg>
      <pc:sldChg chg="modSp mod">
        <pc:chgData name="Sabari Radhakrishnan" userId="b5f50551000becc5" providerId="LiveId" clId="{2213389C-0A45-4FD2-BC6F-739DAA4D3E0C}" dt="2023-12-14T18:23:30.215" v="39" actId="20577"/>
        <pc:sldMkLst>
          <pc:docMk/>
          <pc:sldMk cId="0" sldId="268"/>
        </pc:sldMkLst>
        <pc:spChg chg="mod">
          <ac:chgData name="Sabari Radhakrishnan" userId="b5f50551000becc5" providerId="LiveId" clId="{2213389C-0A45-4FD2-BC6F-739DAA4D3E0C}" dt="2023-12-14T18:21:22.703" v="24" actId="1076"/>
          <ac:spMkLst>
            <pc:docMk/>
            <pc:sldMk cId="0" sldId="268"/>
            <ac:spMk id="3" creationId="{00000000-0000-0000-0000-000000000000}"/>
          </ac:spMkLst>
        </pc:spChg>
        <pc:spChg chg="mod">
          <ac:chgData name="Sabari Radhakrishnan" userId="b5f50551000becc5" providerId="LiveId" clId="{2213389C-0A45-4FD2-BC6F-739DAA4D3E0C}" dt="2023-12-14T18:23:30.215" v="39" actId="20577"/>
          <ac:spMkLst>
            <pc:docMk/>
            <pc:sldMk cId="0" sldId="268"/>
            <ac:spMk id="4" creationId="{00000000-0000-0000-0000-000000000000}"/>
          </ac:spMkLst>
        </pc:spChg>
      </pc:sldChg>
      <pc:sldChg chg="add del">
        <pc:chgData name="Sabari Radhakrishnan" userId="b5f50551000becc5" providerId="LiveId" clId="{2213389C-0A45-4FD2-BC6F-739DAA4D3E0C}" dt="2023-12-14T18:25:17.991" v="41" actId="2696"/>
        <pc:sldMkLst>
          <pc:docMk/>
          <pc:sldMk cId="4268630469"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6B0B0D0B-A21A-4E21-AF63-CCDF5EAF0B59}" type="datetimeFigureOut">
              <a:rPr lang="en-IN" smtClean="0"/>
              <a:t>16-12-2025</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754EA767-BA24-4C96-9379-01026017F238}" type="slidenum">
              <a:rPr lang="en-IN" smtClean="0"/>
              <a:t>‹#›</a:t>
            </a:fld>
            <a:endParaRPr lang="en-IN"/>
          </a:p>
        </p:txBody>
      </p:sp>
    </p:spTree>
    <p:extLst>
      <p:ext uri="{BB962C8B-B14F-4D97-AF65-F5344CB8AC3E}">
        <p14:creationId xmlns:p14="http://schemas.microsoft.com/office/powerpoint/2010/main" val="2929373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242217" y="875593"/>
            <a:ext cx="2659564" cy="9398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500" b="1" i="0">
                <a:solidFill>
                  <a:schemeClr val="bg1"/>
                </a:solidFill>
                <a:latin typeface="Roboto"/>
                <a:cs typeface="Roboto"/>
              </a:defRPr>
            </a:lvl1pPr>
          </a:lstStyle>
          <a:p>
            <a:endParaRPr/>
          </a:p>
        </p:txBody>
      </p:sp>
      <p:sp>
        <p:nvSpPr>
          <p:cNvPr id="3" name="Holder 3"/>
          <p:cNvSpPr>
            <a:spLocks noGrp="1"/>
          </p:cNvSpPr>
          <p:nvPr>
            <p:ph type="body" idx="1"/>
          </p:nvPr>
        </p:nvSpPr>
        <p:spPr/>
        <p:txBody>
          <a:bodyPr lIns="0" tIns="0" rIns="0" bIns="0"/>
          <a:lstStyle>
            <a:lvl1pPr>
              <a:defRPr sz="1800" b="0" i="1">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1554" y="0"/>
            <a:ext cx="9112426" cy="514348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500" b="1" i="0">
                <a:solidFill>
                  <a:schemeClr val="bg1"/>
                </a:solidFill>
                <a:latin typeface="Roboto"/>
                <a:cs typeface="Roboto"/>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500" b="1" i="0">
                <a:solidFill>
                  <a:schemeClr val="bg1"/>
                </a:solidFill>
                <a:latin typeface="Roboto"/>
                <a:cs typeface="Robo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3981" cy="51434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498824" y="195484"/>
            <a:ext cx="8146351" cy="254000"/>
          </a:xfrm>
          <a:prstGeom prst="rect">
            <a:avLst/>
          </a:prstGeom>
        </p:spPr>
        <p:txBody>
          <a:bodyPr wrap="square" lIns="0" tIns="0" rIns="0" bIns="0">
            <a:spAutoFit/>
          </a:bodyPr>
          <a:lstStyle>
            <a:lvl1pPr>
              <a:defRPr sz="1500" b="1" i="0">
                <a:solidFill>
                  <a:schemeClr val="bg1"/>
                </a:solidFill>
                <a:latin typeface="Roboto"/>
                <a:cs typeface="Roboto"/>
              </a:defRPr>
            </a:lvl1pPr>
          </a:lstStyle>
          <a:p>
            <a:endParaRPr/>
          </a:p>
        </p:txBody>
      </p:sp>
      <p:sp>
        <p:nvSpPr>
          <p:cNvPr id="3" name="Holder 3"/>
          <p:cNvSpPr>
            <a:spLocks noGrp="1"/>
          </p:cNvSpPr>
          <p:nvPr>
            <p:ph type="body" idx="1"/>
          </p:nvPr>
        </p:nvSpPr>
        <p:spPr>
          <a:xfrm>
            <a:off x="2883325" y="2032580"/>
            <a:ext cx="6057900" cy="1122680"/>
          </a:xfrm>
          <a:prstGeom prst="rect">
            <a:avLst/>
          </a:prstGeom>
        </p:spPr>
        <p:txBody>
          <a:bodyPr wrap="square" lIns="0" tIns="0" rIns="0" bIns="0">
            <a:spAutoFit/>
          </a:bodyPr>
          <a:lstStyle>
            <a:lvl1pPr>
              <a:defRPr sz="1800" b="0" i="1">
                <a:solidFill>
                  <a:schemeClr val="tx1"/>
                </a:solidFill>
                <a:latin typeface="Carlito"/>
                <a:cs typeface="Carlito"/>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12/16/2025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 Id="rId10" Type="http://schemas.openxmlformats.org/officeDocument/2006/relationships/image" Target="../media/kg_architecture.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70367" y="646368"/>
            <a:ext cx="1630045" cy="310515"/>
          </a:xfrm>
          <a:prstGeom prst="rect">
            <a:avLst/>
          </a:prstGeom>
        </p:spPr>
        <p:txBody>
          <a:bodyPr vert="horz" wrap="square" lIns="0" tIns="0" rIns="0" bIns="0" rtlCol="0">
            <a:spAutoFit/>
          </a:bodyPr>
          <a:lstStyle/>
          <a:p>
            <a:pPr>
              <a:lnSpc>
                <a:spcPts val="1105"/>
              </a:lnSpc>
            </a:pPr>
            <a:r>
              <a:rPr sz="1000" spc="-5" dirty="0">
                <a:solidFill>
                  <a:srgbClr val="595959"/>
                </a:solidFill>
                <a:latin typeface="Arial"/>
                <a:cs typeface="Arial"/>
              </a:rPr>
              <a:t>M.Tech Thesis Proposal</a:t>
            </a:r>
            <a:r>
              <a:rPr sz="1000" spc="-120" dirty="0">
                <a:solidFill>
                  <a:srgbClr val="595959"/>
                </a:solidFill>
                <a:latin typeface="Arial"/>
                <a:cs typeface="Arial"/>
              </a:rPr>
              <a:t/>
            </a:r>
            <a:r>
              <a:rPr sz="1000" spc="-5" dirty="0">
                <a:solidFill>
                  <a:srgbClr val="595959"/>
                </a:solidFill>
                <a:latin typeface="Arial"/>
                <a:cs typeface="Arial"/>
              </a:rPr>
              <a:t/>
            </a:r>
            <a:endParaRPr sz="1000">
              <a:latin typeface="Arial"/>
              <a:cs typeface="Arial"/>
            </a:endParaRPr>
          </a:p>
          <a:p>
            <a:pPr>
              <a:lnSpc>
                <a:spcPct val="100000"/>
              </a:lnSpc>
              <a:spcBef>
                <a:spcPts val="125"/>
              </a:spcBef>
            </a:pPr>
            <a:r>
              <a:rPr sz="1000" spc="-5" dirty="0">
                <a:solidFill>
                  <a:srgbClr val="595959"/>
                </a:solidFill>
                <a:latin typeface="Arial"/>
                <a:cs typeface="Arial"/>
              </a:rPr>
              <a:t/>
            </a:r>
            <a:endParaRPr sz="1000">
              <a:latin typeface="Arial"/>
              <a:cs typeface="Arial"/>
            </a:endParaRPr>
          </a:p>
        </p:txBody>
      </p:sp>
      <p:sp>
        <p:nvSpPr>
          <p:cNvPr id="3" name="object 3"/>
          <p:cNvSpPr/>
          <p:nvPr/>
        </p:nvSpPr>
        <p:spPr>
          <a:xfrm>
            <a:off x="19" y="20011"/>
            <a:ext cx="9143981" cy="5143489"/>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950000" y="1300000"/>
            <a:ext cx="5000000" cy="1400000"/>
          </a:xfrm>
          <a:prstGeom prst="rect">
            <a:avLst/>
          </a:prstGeom>
        </p:spPr>
        <p:txBody>
          <a:bodyPr vert="horz" wrap="square" lIns="0" tIns="12700" rIns="0" bIns="0" rtlCol="0">
            <a:spAutoFit/>
          </a:bodyPr>
          <a:lstStyle/>
          <a:p>
            <a:pPr>
              <a:spcBef>
                <a:spcPts val="25"/>
              </a:spcBef>
            </a:pPr>
            <a:r>
              <a:rPr lang="en-IN" sz="1500" b="1" dirty="0" smtClean="0">
                <a:solidFill>
                  <a:schemeClr val="bg1"/>
                </a:solidFill>
                <a:latin typeface="Times New Roman" panose="02020603050405020304" pitchFamily="18" charset="0"/>
                <a:cs typeface="Times New Roman" panose="02020603050405020304" pitchFamily="18" charset="0"/>
              </a:rPr>
              <a:t>A Multimodal Knowledge Graph for Industrial Equipment Fault Diagnosis and Maintenance Documentation</a:t>
            </a:r>
            <a:endParaRPr sz="15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6781801" y="3000000"/>
            <a:ext cx="2463844" cy="730969"/>
          </a:xfrm>
          <a:prstGeom prst="rect">
            <a:avLst/>
          </a:prstGeom>
        </p:spPr>
        <p:txBody>
          <a:bodyPr vert="horz" wrap="square" lIns="0" tIns="12700" rIns="0" bIns="0" rtlCol="0">
            <a:spAutoFit/>
          </a:bodyPr>
          <a:lstStyle/>
          <a:p>
            <a:pPr marL="12700">
              <a:lnSpc>
                <a:spcPct val="100000"/>
              </a:lnSpc>
              <a:spcBef>
                <a:spcPts val="100"/>
              </a:spcBef>
            </a:pPr>
            <a:r>
              <a:rPr sz="1500" b="1" spc="-10" dirty="0">
                <a:solidFill>
                  <a:srgbClr val="FFFFFF"/>
                </a:solidFill>
                <a:latin typeface="Roboto"/>
                <a:cs typeface="Roboto"/>
              </a:rPr>
              <a:t>Guided</a:t>
            </a:r>
            <a:r>
              <a:rPr sz="1500" b="1" spc="-5" dirty="0">
                <a:solidFill>
                  <a:srgbClr val="FFFFFF"/>
                </a:solidFill>
                <a:latin typeface="Roboto"/>
                <a:cs typeface="Roboto"/>
              </a:rPr>
              <a:t> </a:t>
            </a:r>
            <a:r>
              <a:rPr sz="1500" b="1" spc="-15" dirty="0">
                <a:solidFill>
                  <a:srgbClr val="FFFFFF"/>
                </a:solidFill>
                <a:latin typeface="Roboto"/>
                <a:cs typeface="Roboto"/>
              </a:rPr>
              <a:t>By:</a:t>
            </a:r>
            <a:r>
              <a:rPr sz="1500" b="1" spc="-10" dirty="0">
                <a:solidFill>
                  <a:srgbClr val="FFFFFF"/>
                </a:solidFill>
                <a:latin typeface="Roboto"/>
                <a:cs typeface="Roboto"/>
              </a:rPr>
              <a:t>Ms. V Saranya</a:t>
            </a:r>
            <a:endParaRPr lang="en-IN" sz="1500" b="1" spc="-10" dirty="0">
              <a:solidFill>
                <a:srgbClr val="FFFFFF"/>
              </a:solidFill>
              <a:latin typeface="Roboto"/>
              <a:cs typeface="Roboto"/>
            </a:endParaRPr>
          </a:p>
          <a:p>
            <a:pPr marL="12700">
              <a:lnSpc>
                <a:spcPct val="100000"/>
              </a:lnSpc>
              <a:spcBef>
                <a:spcPts val="100"/>
              </a:spcBef>
            </a:pPr>
            <a:r>
              <a:rPr lang="en-IN" sz="1500" spc="-15" dirty="0" smtClean="0">
                <a:solidFill>
                  <a:srgbClr val="FFFFFF"/>
                </a:solidFill>
                <a:latin typeface="Roboto"/>
                <a:cs typeface="Roboto"/>
              </a:rPr>
              <a:t/>
            </a:r>
            <a:endParaRPr lang="en-IN" sz="1500" spc="-15" dirty="0">
              <a:solidFill>
                <a:srgbClr val="FFFFFF"/>
              </a:solidFill>
              <a:latin typeface="Roboto"/>
              <a:cs typeface="Roboto"/>
            </a:endParaRPr>
          </a:p>
          <a:p>
            <a:pPr marL="12700">
              <a:lnSpc>
                <a:spcPct val="100000"/>
              </a:lnSpc>
              <a:spcBef>
                <a:spcPts val="100"/>
              </a:spcBef>
            </a:pPr>
            <a:r>
              <a:rPr lang="en-IN" sz="1500" spc="-15" dirty="0" smtClean="0">
                <a:solidFill>
                  <a:srgbClr val="FFFFFF"/>
                </a:solidFill>
                <a:latin typeface="Roboto"/>
                <a:cs typeface="Roboto"/>
              </a:rPr>
              <a:t/>
            </a:r>
            <a:endParaRPr sz="1500" dirty="0">
              <a:latin typeface="Roboto"/>
              <a:cs typeface="Roboto"/>
            </a:endParaRPr>
          </a:p>
        </p:txBody>
      </p:sp>
      <p:sp>
        <p:nvSpPr>
          <p:cNvPr id="6" name="object 6"/>
          <p:cNvSpPr txBox="1"/>
          <p:nvPr/>
        </p:nvSpPr>
        <p:spPr>
          <a:xfrm>
            <a:off x="3502018" y="2850000"/>
            <a:ext cx="1755782" cy="284480"/>
          </a:xfrm>
          <a:prstGeom prst="rect">
            <a:avLst/>
          </a:prstGeom>
        </p:spPr>
        <p:txBody>
          <a:bodyPr vert="horz" wrap="square" lIns="0" tIns="12700" rIns="0" bIns="0" rtlCol="0">
            <a:spAutoFit/>
          </a:bodyPr>
          <a:lstStyle/>
          <a:p>
            <a:pPr marL="12700">
              <a:lnSpc>
                <a:spcPct val="100000"/>
              </a:lnSpc>
              <a:spcBef>
                <a:spcPts val="100"/>
              </a:spcBef>
            </a:pPr>
            <a:r>
              <a:rPr sz="1700" b="1" spc="-15" dirty="0">
                <a:solidFill>
                  <a:srgbClr val="FFFFFF"/>
                </a:solidFill>
                <a:latin typeface="Carlito"/>
                <a:cs typeface="Carlito"/>
              </a:rPr>
              <a:t>Student</a:t>
            </a:r>
            <a:r>
              <a:rPr sz="1700" b="1" spc="-65" dirty="0">
                <a:solidFill>
                  <a:srgbClr val="FFFFFF"/>
                </a:solidFill>
                <a:latin typeface="Carlito"/>
                <a:cs typeface="Carlito"/>
              </a:rPr>
              <a:t> </a:t>
            </a:r>
            <a:r>
              <a:rPr sz="1700" b="1" spc="-5" dirty="0">
                <a:solidFill>
                  <a:srgbClr val="FFFFFF"/>
                </a:solidFill>
                <a:latin typeface="Carlito"/>
                <a:cs typeface="Carlito"/>
              </a:rPr>
              <a:t>:</a:t>
            </a:r>
            <a:endParaRPr sz="1700" dirty="0">
              <a:latin typeface="Carlito"/>
              <a:cs typeface="Carlito"/>
            </a:endParaRPr>
          </a:p>
        </p:txBody>
      </p:sp>
      <p:sp>
        <p:nvSpPr>
          <p:cNvPr id="7" name="object 7"/>
          <p:cNvSpPr txBox="1"/>
          <p:nvPr/>
        </p:nvSpPr>
        <p:spPr>
          <a:xfrm>
            <a:off x="3426030" y="3200000"/>
            <a:ext cx="3103245" cy="730969"/>
          </a:xfrm>
          <a:prstGeom prst="rect">
            <a:avLst/>
          </a:prstGeom>
        </p:spPr>
        <p:txBody>
          <a:bodyPr vert="horz" wrap="square" lIns="0" tIns="12700" rIns="0" bIns="0" rtlCol="0">
            <a:spAutoFit/>
          </a:bodyPr>
          <a:lstStyle/>
          <a:p>
            <a:pPr marL="12700" marR="5080">
              <a:lnSpc>
                <a:spcPct val="100000"/>
              </a:lnSpc>
              <a:spcBef>
                <a:spcPts val="100"/>
              </a:spcBef>
            </a:pPr>
            <a:r>
              <a:rPr lang="en-IN" sz="1500" spc="-10" dirty="0">
                <a:solidFill>
                  <a:srgbClr val="FFFFFF"/>
                </a:solidFill>
                <a:latin typeface="Roboto"/>
                <a:cs typeface="Roboto"/>
              </a:rPr>
              <a:t>Krishna</a:t>
            </a:r>
            <a:r>
              <a:rPr sz="1500" dirty="0">
                <a:solidFill>
                  <a:srgbClr val="FFFFFF"/>
                </a:solidFill>
                <a:latin typeface="Roboto"/>
                <a:cs typeface="Roboto"/>
              </a:rPr>
              <a:t/>
            </a:r>
            <a:r>
              <a:rPr sz="1500" spc="-5" dirty="0">
                <a:solidFill>
                  <a:srgbClr val="FFFFFF"/>
                </a:solidFill>
                <a:latin typeface="Roboto"/>
                <a:cs typeface="Roboto"/>
              </a:rPr>
              <a:t/>
            </a:r>
            <a:r>
              <a:rPr sz="1500" spc="-10" dirty="0">
                <a:solidFill>
                  <a:srgbClr val="FFFFFF"/>
                </a:solidFill>
                <a:latin typeface="Roboto"/>
                <a:cs typeface="Roboto"/>
              </a:rPr>
              <a:t/>
            </a:r>
            <a:r>
              <a:rPr lang="en-IN" sz="1500" spc="-10" dirty="0">
                <a:solidFill>
                  <a:srgbClr val="FFFFFF"/>
                </a:solidFill>
                <a:latin typeface="Roboto"/>
                <a:cs typeface="Roboto"/>
              </a:rPr>
              <a:t/>
            </a:r>
            <a:r>
              <a:rPr sz="1500" spc="-10" dirty="0">
                <a:solidFill>
                  <a:srgbClr val="FFFFFF"/>
                </a:solidFill>
                <a:latin typeface="Roboto"/>
                <a:cs typeface="Roboto"/>
              </a:rPr>
              <a:t/>
            </a:r>
            <a:r>
              <a:rPr lang="en-IN" sz="1500" spc="-10" dirty="0">
                <a:solidFill>
                  <a:srgbClr val="FFFFFF"/>
                </a:solidFill>
                <a:latin typeface="Roboto"/>
                <a:cs typeface="Roboto"/>
              </a:rPr>
              <a:t/>
            </a:r>
            <a:r>
              <a:rPr sz="1500" spc="-10" dirty="0">
                <a:solidFill>
                  <a:srgbClr val="FFFFFF"/>
                </a:solidFill>
                <a:latin typeface="Roboto"/>
                <a:cs typeface="Roboto"/>
              </a:rPr>
              <a:t/>
            </a:r>
            <a:endParaRPr lang="en-IN" sz="1500" spc="-10" dirty="0">
              <a:solidFill>
                <a:srgbClr val="FFFFFF"/>
              </a:solidFill>
              <a:latin typeface="Roboto"/>
              <a:cs typeface="Roboto"/>
            </a:endParaRPr>
          </a:p>
          <a:p>
            <a:pPr marL="12700" marR="5080">
              <a:lnSpc>
                <a:spcPct val="100000"/>
              </a:lnSpc>
              <a:spcBef>
                <a:spcPts val="100"/>
              </a:spcBef>
            </a:pPr>
            <a:r>
              <a:rPr lang="en-IN" sz="1500" spc="-10" dirty="0">
                <a:solidFill>
                  <a:srgbClr val="FFFFFF"/>
                </a:solidFill>
                <a:latin typeface="Roboto"/>
                <a:cs typeface="Roboto"/>
              </a:rPr>
              <a:t/>
            </a:r>
            <a:r>
              <a:rPr sz="1500" spc="-5" dirty="0">
                <a:solidFill>
                  <a:srgbClr val="FFFFFF"/>
                </a:solidFill>
                <a:latin typeface="Roboto"/>
                <a:cs typeface="Roboto"/>
              </a:rPr>
              <a:t/>
            </a:r>
            <a:r>
              <a:rPr sz="1500" spc="-10" dirty="0">
                <a:solidFill>
                  <a:srgbClr val="FFFFFF"/>
                </a:solidFill>
                <a:latin typeface="Roboto"/>
                <a:cs typeface="Roboto"/>
              </a:rPr>
              <a:t/>
            </a:r>
            <a:r>
              <a:rPr lang="en-IN" sz="1500" spc="-10" dirty="0">
                <a:solidFill>
                  <a:srgbClr val="FFFFFF"/>
                </a:solidFill>
                <a:latin typeface="Roboto"/>
                <a:cs typeface="Roboto"/>
              </a:rPr>
              <a:t/>
            </a:r>
            <a:r>
              <a:rPr sz="1500" spc="-10" dirty="0">
                <a:solidFill>
                  <a:srgbClr val="FFFFFF"/>
                </a:solidFill>
                <a:latin typeface="Roboto"/>
                <a:cs typeface="Roboto"/>
              </a:rPr>
              <a:t/>
            </a:r>
            <a:endParaRPr lang="en-IN" sz="1500" spc="-10" dirty="0">
              <a:solidFill>
                <a:srgbClr val="FFFFFF"/>
              </a:solidFill>
              <a:latin typeface="Roboto"/>
              <a:cs typeface="Roboto"/>
            </a:endParaRPr>
          </a:p>
          <a:p>
            <a:pPr marL="12700" marR="5080">
              <a:lnSpc>
                <a:spcPct val="100000"/>
              </a:lnSpc>
              <a:spcBef>
                <a:spcPts val="100"/>
              </a:spcBef>
            </a:pPr>
            <a:r>
              <a:rPr lang="en-IN" sz="1500" spc="-10" dirty="0">
                <a:solidFill>
                  <a:srgbClr val="FFFFFF"/>
                </a:solidFill>
                <a:latin typeface="Roboto"/>
                <a:cs typeface="Roboto"/>
              </a:rPr>
              <a:t/>
            </a:r>
            <a:r>
              <a:rPr sz="1500" spc="-5" dirty="0">
                <a:solidFill>
                  <a:srgbClr val="FFFFFF"/>
                </a:solidFill>
                <a:latin typeface="Roboto"/>
                <a:cs typeface="Roboto"/>
              </a:rPr>
              <a:t/>
            </a:r>
            <a:r>
              <a:rPr sz="1500" spc="-10" dirty="0">
                <a:solidFill>
                  <a:srgbClr val="FFFFFF"/>
                </a:solidFill>
                <a:latin typeface="Roboto"/>
                <a:cs typeface="Roboto"/>
              </a:rPr>
              <a:t/>
            </a:r>
            <a:r>
              <a:rPr lang="en-IN" sz="1500" spc="-10" dirty="0">
                <a:solidFill>
                  <a:srgbClr val="FFFFFF"/>
                </a:solidFill>
                <a:latin typeface="Roboto"/>
                <a:cs typeface="Roboto"/>
              </a:rPr>
              <a:t/>
            </a:r>
            <a:endParaRPr sz="1500" dirty="0">
              <a:latin typeface="Roboto"/>
              <a:cs typeface="Roboto"/>
            </a:endParaRPr>
          </a:p>
        </p:txBody>
      </p:sp>
      <p:sp>
        <p:nvSpPr>
          <p:cNvPr id="8" name="object 8"/>
          <p:cNvSpPr txBox="1"/>
          <p:nvPr/>
        </p:nvSpPr>
        <p:spPr>
          <a:xfrm>
            <a:off x="677172" y="3070882"/>
            <a:ext cx="2496331" cy="1079783"/>
          </a:xfrm>
          <a:prstGeom prst="rect">
            <a:avLst/>
          </a:prstGeom>
        </p:spPr>
        <p:txBody>
          <a:bodyPr vert="horz" wrap="square" lIns="0" tIns="12700" rIns="0" bIns="0" rtlCol="0">
            <a:spAutoFit/>
          </a:bodyPr>
          <a:lstStyle/>
          <a:p>
            <a:pPr marL="36195">
              <a:lnSpc>
                <a:spcPct val="100000"/>
              </a:lnSpc>
              <a:spcBef>
                <a:spcPts val="100"/>
              </a:spcBef>
              <a:tabLst>
                <a:tab pos="687705" algn="l"/>
              </a:tabLst>
            </a:pPr>
            <a:r>
              <a:rPr sz="1700" b="1" spc="-5" dirty="0" smtClean="0">
                <a:solidFill>
                  <a:srgbClr val="FF0000"/>
                </a:solidFill>
                <a:latin typeface="Carlito"/>
                <a:cs typeface="Carlito"/>
              </a:rPr>
              <a:t>V</a:t>
            </a:r>
            <a:r>
              <a:rPr lang="en-IN" sz="1700" b="1" spc="-5" dirty="0" smtClean="0">
                <a:solidFill>
                  <a:srgbClr val="FF0000"/>
                </a:solidFill>
                <a:latin typeface="Carlito"/>
                <a:cs typeface="Carlito"/>
              </a:rPr>
              <a:t/>
            </a:r>
            <a:r>
              <a:rPr sz="1700" b="1" spc="-5" dirty="0">
                <a:solidFill>
                  <a:srgbClr val="FF0000"/>
                </a:solidFill>
                <a:latin typeface="Carlito"/>
                <a:cs typeface="Carlito"/>
              </a:rPr>
              <a:t>	</a:t>
            </a:r>
            <a:r>
              <a:rPr lang="en-IN" sz="1700" b="1" spc="-5" dirty="0">
                <a:solidFill>
                  <a:srgbClr val="FF0000"/>
                </a:solidFill>
                <a:latin typeface="Carlito"/>
                <a:cs typeface="Carlito"/>
              </a:rPr>
              <a:t>I</a:t>
            </a:r>
            <a:r>
              <a:rPr sz="1700" b="1" spc="-5" dirty="0" smtClean="0">
                <a:solidFill>
                  <a:srgbClr val="FF0000"/>
                </a:solidFill>
                <a:latin typeface="Carlito"/>
                <a:cs typeface="Carlito"/>
              </a:rPr>
              <a:t>X</a:t>
            </a:r>
            <a:r>
              <a:rPr lang="en-IN" sz="1700" b="1" spc="-5" dirty="0" smtClean="0">
                <a:solidFill>
                  <a:srgbClr val="FF0000"/>
                </a:solidFill>
                <a:latin typeface="Carlito"/>
                <a:cs typeface="Carlito"/>
              </a:rPr>
              <a:t/>
            </a:r>
            <a:endParaRPr sz="1700" dirty="0">
              <a:latin typeface="Carlito"/>
              <a:cs typeface="Carlito"/>
            </a:endParaRPr>
          </a:p>
          <a:p>
            <a:pPr>
              <a:lnSpc>
                <a:spcPct val="100000"/>
              </a:lnSpc>
              <a:spcBef>
                <a:spcPts val="55"/>
              </a:spcBef>
            </a:pPr>
            <a:endParaRPr sz="1350" dirty="0">
              <a:latin typeface="Carlito"/>
              <a:cs typeface="Carlito"/>
            </a:endParaRPr>
          </a:p>
          <a:p>
            <a:pPr marL="12700"/>
            <a:r>
              <a:rPr lang="en-US" sz="1400" b="1" dirty="0">
                <a:solidFill>
                  <a:schemeClr val="bg1"/>
                </a:solidFill>
              </a:rPr>
              <a:t>M.Tech</a:t>
            </a:r>
          </a:p>
          <a:p>
            <a:pPr marL="102870">
              <a:lnSpc>
                <a:spcPct val="100000"/>
              </a:lnSpc>
              <a:spcBef>
                <a:spcPts val="1175"/>
              </a:spcBef>
            </a:pPr>
            <a:r>
              <a:rPr lang="en-IN" sz="1400" b="1" spc="-5" dirty="0" smtClean="0">
                <a:solidFill>
                  <a:srgbClr val="FFFFFF"/>
                </a:solidFill>
                <a:latin typeface="Roboto"/>
                <a:cs typeface="Roboto"/>
              </a:rPr>
              <a:t> Integrated Programme</a:t>
            </a:r>
            <a:r>
              <a:rPr lang="en-IN" sz="1400" b="1" spc="-5" dirty="0" err="1" smtClean="0">
                <a:solidFill>
                  <a:srgbClr val="FFFFFF"/>
                </a:solidFill>
                <a:latin typeface="Roboto"/>
                <a:cs typeface="Roboto"/>
              </a:rPr>
              <a:t> </a:t>
            </a:r>
            <a:r>
              <a:rPr lang="en-IN" sz="1400" b="1" spc="-5" dirty="0" smtClean="0">
                <a:solidFill>
                  <a:srgbClr val="FFFFFF"/>
                </a:solidFill>
                <a:latin typeface="Roboto"/>
                <a:cs typeface="Roboto"/>
              </a:rPr>
              <a:t>- Computer Science and Engineering</a:t>
            </a:r>
            <a:endParaRPr sz="1400" dirty="0">
              <a:latin typeface="Roboto"/>
              <a:cs typeface="Roboto"/>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7800" y="4476750"/>
            <a:ext cx="514350" cy="5143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a:spLocks noGrp="1"/>
          </p:cNvSpPr>
          <p:nvPr>
            <p:ph type="title"/>
          </p:nvPr>
        </p:nvSpPr>
        <p:spPr>
          <a:xfrm>
            <a:off x="2514600" y="971550"/>
            <a:ext cx="3762896" cy="443711"/>
          </a:xfrm>
          <a:prstGeom prst="rect">
            <a:avLst/>
          </a:prstGeom>
        </p:spPr>
        <p:txBody>
          <a:bodyPr vert="horz" wrap="square" lIns="0" tIns="12700" rIns="0" bIns="0" rtlCol="0">
            <a:spAutoFit/>
          </a:bodyPr>
          <a:lstStyle/>
          <a:p>
            <a:pPr marL="12700" marR="5080" algn="ctr">
              <a:lnSpc>
                <a:spcPct val="100000"/>
              </a:lnSpc>
              <a:spcBef>
                <a:spcPts val="100"/>
              </a:spcBef>
            </a:pPr>
            <a:r>
              <a:rPr sz="2800" spc="-5" dirty="0">
                <a:solidFill>
                  <a:srgbClr val="000000"/>
                </a:solidFill>
                <a:latin typeface="Times New Roman" panose="02020603050405020304" pitchFamily="18" charset="0"/>
                <a:cs typeface="Times New Roman" panose="02020603050405020304" pitchFamily="18" charset="0"/>
              </a:rPr>
              <a:t>Domain </a:t>
            </a:r>
            <a:r>
              <a:rPr lang="en-IN" sz="2800" spc="-35" dirty="0" smtClean="0">
                <a:solidFill>
                  <a:srgbClr val="000000"/>
                </a:solidFill>
                <a:latin typeface="Times New Roman" panose="02020603050405020304" pitchFamily="18" charset="0"/>
                <a:cs typeface="Times New Roman" panose="02020603050405020304" pitchFamily="18" charset="0"/>
              </a:rPr>
              <a:t>of the Project</a:t>
            </a:r>
            <a:r>
              <a:rPr sz="2800" spc="-45" dirty="0" err="1" smtClean="0">
                <a:solidFill>
                  <a:srgbClr val="000000"/>
                </a:solidFill>
                <a:latin typeface="Times New Roman" panose="02020603050405020304" pitchFamily="18" charset="0"/>
                <a:cs typeface="Times New Roman" panose="02020603050405020304" pitchFamily="18" charset="0"/>
              </a:rPr>
              <a:t/>
            </a:r>
            <a:endParaRPr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EC158AA3-055F-C297-70BF-8D23EC7FA482}"/>
              </a:ext>
            </a:extLst>
          </p:cNvPr>
          <p:cNvSpPr txBox="1"/>
          <p:nvPr/>
        </p:nvSpPr>
        <p:spPr>
          <a:xfrm>
            <a:off x="685800" y="1581150"/>
            <a:ext cx="7696200" cy="3202223"/>
          </a:xfrm>
          <a:prstGeom prst="rect">
            <a:avLst/>
          </a:prstGeom>
          <a:noFill/>
        </p:spPr>
        <p:txBody>
          <a:bodyPr wrap="square" rtlCol="0">
            <a:spAutoFit/>
          </a:bodyPr>
          <a:lstStyle/>
          <a:p>
            <a:pPr marL="12700" marR="5080" indent="558800">
              <a:lnSpc>
                <a:spcPct val="127000"/>
              </a:lnSpc>
              <a:spcBef>
                <a:spcPts val="100"/>
              </a:spcBef>
            </a:pPr>
            <a:r>
              <a:rPr lang="en-US" sz="1600" dirty="0">
                <a:latin typeface="Times New Roman" panose="02020603050405020304" pitchFamily="18" charset="0"/>
                <a:cs typeface="Times New Roman" panose="02020603050405020304" pitchFamily="18" charset="0"/>
              </a:rPr>
              <a:t>Applied AI for Industrial Manufacturing, at the intersection of multi-modal Retrieval-Augmented Generation (RAG), Knowledge Graph construction and graph-based reasoning, Human-in-the-Loop (HITL) verification for high-stakes domains, and computer vision for engineering diagram (P&amp;ID) interpretation. Sub-domain: Question Answering support for centrifugal pump equipment using heterogeneous industrial documentation such as manuals, maintenance logs, P&amp;IDs, and spec sheets as the knowledge source.</a:t>
            </a:r>
          </a:p>
          <a:p>
            <a:pPr marL="12700" marR="5080" indent="558800">
              <a:lnSpc>
                <a:spcPct val="127000"/>
              </a:lnSpc>
              <a:spcBef>
                <a:spcPts val="100"/>
              </a:spcBef>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a:spLocks noGrp="1"/>
          </p:cNvSpPr>
          <p:nvPr>
            <p:ph type="title"/>
          </p:nvPr>
        </p:nvSpPr>
        <p:spPr>
          <a:xfrm>
            <a:off x="3581400" y="839431"/>
            <a:ext cx="2320384" cy="320601"/>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000000"/>
                </a:solidFill>
                <a:latin typeface="Times New Roman" panose="02020603050405020304" pitchFamily="18" charset="0"/>
                <a:cs typeface="Times New Roman" panose="02020603050405020304" pitchFamily="18" charset="0"/>
              </a:rPr>
              <a:t>BACKGROUND </a:t>
            </a:r>
            <a:r>
              <a:rPr sz="2000" spc="-35" dirty="0">
                <a:solidFill>
                  <a:srgbClr val="000000"/>
                </a:solidFill>
                <a:latin typeface="Times New Roman" panose="02020603050405020304" pitchFamily="18" charset="0"/>
                <a:cs typeface="Times New Roman" panose="02020603050405020304" pitchFamily="18" charset="0"/>
              </a:rPr>
              <a:t>AND </a:t>
            </a:r>
            <a:r>
              <a:rPr sz="2000" spc="-5" dirty="0">
                <a:solidFill>
                  <a:srgbClr val="000000"/>
                </a:solidFill>
                <a:latin typeface="Times New Roman" panose="02020603050405020304" pitchFamily="18" charset="0"/>
                <a:cs typeface="Times New Roman" panose="02020603050405020304" pitchFamily="18" charset="0"/>
              </a:rPr>
              <a:t>GAP</a:t>
            </a:r>
            <a:r>
              <a:rPr sz="2000" spc="-65" dirty="0">
                <a:solidFill>
                  <a:srgbClr val="000000"/>
                </a:solidFill>
                <a:latin typeface="Times New Roman" panose="02020603050405020304" pitchFamily="18" charset="0"/>
                <a:cs typeface="Times New Roman" panose="02020603050405020304" pitchFamily="18" charset="0"/>
              </a:rPr>
              <a:t/>
            </a:r>
            <a:r>
              <a:rPr sz="2000" spc="10" dirty="0">
                <a:solidFill>
                  <a:srgbClr val="000000"/>
                </a:solidFill>
                <a:latin typeface="Times New Roman" panose="02020603050405020304" pitchFamily="18" charset="0"/>
                <a:cs typeface="Times New Roman" panose="02020603050405020304" pitchFamily="18" charset="0"/>
              </a:rPr>
              <a:t/>
            </a:r>
            <a:r>
              <a:rPr sz="2000" dirty="0">
                <a:solidFill>
                  <a:srgbClr val="000000"/>
                </a:solidFill>
                <a:latin typeface="Times New Roman" panose="02020603050405020304" pitchFamily="18" charset="0"/>
                <a:cs typeface="Times New Roman" panose="02020603050405020304" pitchFamily="18" charset="0"/>
              </a:rPr>
              <a:t/>
            </a:r>
            <a:endParaRPr sz="20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915082" y="1352550"/>
            <a:ext cx="7653020" cy="3509679"/>
          </a:xfrm>
          <a:prstGeom prst="rect">
            <a:avLst/>
          </a:prstGeom>
        </p:spPr>
        <p:txBody>
          <a:bodyPr vert="horz" wrap="square" lIns="0" tIns="12700" rIns="0" bIns="0" rtlCol="0">
            <a:spAutoFit/>
          </a:bodyPr>
          <a:lstStyle/>
          <a:p>
            <a:pPr algn="just"/>
            <a:r>
              <a:rPr lang="en-US" altLang="en-US" sz="1600" dirty="0">
                <a:latin typeface="Times New Roman" panose="02020603050405020304" pitchFamily="18" charset="0"/>
                <a:cs typeface="Times New Roman" panose="02020603050405020304" pitchFamily="18" charset="0"/>
              </a:rPr>
              <a:t>Industrial equipment documentation, manuals, maintenance logs, P&amp;IDs, and spec tables, is heterogeneous and technical. Recent multi-modal RAG systems such as ManuRAG (Journal of Intelligent Manufacturing, 2026) retrieve information as independent chunks ranked by embedding similarity. This works for single-fact lookup, but factual correctness drops to 45.75% on multi-hop, review/reasoning-type questions, its weakest reported category, since a causal chain spanning multiple documents is never explicitly linked. </a:t>
            </a:r>
          </a:p>
          <a:p>
            <a:pPr algn="just"/>
            <a:endParaRPr lang="en-US" altLang="en-US" sz="1600"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ChatP&amp;ID (AIChE Journal, 2026) shows that converting P&amp;IDs into a knowledge graph improves QA accuracy by 18% and cuts token cost by 85%, but works only on standardized DEXPI-format diagrams and includes no human verification loop. The exact gap: no existing system combines multi-modal RAG, a knowledge graph built from both text and vision-parsed engineering diagrams, and an expert-in-the-loop correction mechanism together.</a:t>
            </a:r>
          </a:p>
          <a:p>
            <a:pPr algn="just"/>
            <a:endParaRPr lang="en-US" altLang="en-US" sz="1600" dirty="0">
              <a:latin typeface="Times New Roman" panose="02020603050405020304" pitchFamily="18" charset="0"/>
              <a:cs typeface="Times New Roman" panose="02020603050405020304" pitchFamily="18" charset="0"/>
            </a:endParaRPr>
          </a:p>
          <a:p>
            <a:pPr marL="12700" marR="5080" indent="444500">
              <a:lnSpc>
                <a:spcPct val="114999"/>
              </a:lnSpc>
              <a:spcBef>
                <a:spcPts val="100"/>
              </a:spcBef>
            </a:pPr>
            <a:endParaRP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58491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a:spLocks noGrp="1"/>
          </p:cNvSpPr>
          <p:nvPr>
            <p:ph type="title"/>
          </p:nvPr>
        </p:nvSpPr>
        <p:spPr>
          <a:xfrm>
            <a:off x="2514600" y="971550"/>
            <a:ext cx="3762896" cy="443711"/>
          </a:xfrm>
          <a:prstGeom prst="rect">
            <a:avLst/>
          </a:prstGeom>
        </p:spPr>
        <p:txBody>
          <a:bodyPr vert="horz" wrap="square" lIns="0" tIns="12700" rIns="0" bIns="0" rtlCol="0">
            <a:spAutoFit/>
          </a:bodyPr>
          <a:lstStyle/>
          <a:p>
            <a:pPr marL="12700" marR="5080" algn="ctr">
              <a:lnSpc>
                <a:spcPct val="100000"/>
              </a:lnSpc>
              <a:spcBef>
                <a:spcPts val="100"/>
              </a:spcBef>
            </a:pPr>
            <a:r>
              <a:rPr sz="2800" spc="-5" dirty="0">
                <a:solidFill>
                  <a:srgbClr val="000000"/>
                </a:solidFill>
                <a:latin typeface="Times New Roman" panose="02020603050405020304" pitchFamily="18" charset="0"/>
                <a:cs typeface="Times New Roman" panose="02020603050405020304" pitchFamily="18" charset="0"/>
              </a:rPr>
              <a:t>Research </a:t>
            </a:r>
            <a:r>
              <a:rPr lang="en-IN" sz="2800" spc="-35" dirty="0" smtClean="0">
                <a:solidFill>
                  <a:srgbClr val="000000"/>
                </a:solidFill>
                <a:latin typeface="Times New Roman" panose="02020603050405020304" pitchFamily="18" charset="0"/>
                <a:cs typeface="Times New Roman" panose="02020603050405020304" pitchFamily="18" charset="0"/>
              </a:rPr>
              <a:t>O</a:t>
            </a:r>
            <a:r>
              <a:rPr sz="2800" spc="-45" dirty="0" err="1" smtClean="0">
                <a:solidFill>
                  <a:srgbClr val="000000"/>
                </a:solidFill>
                <a:latin typeface="Times New Roman" panose="02020603050405020304" pitchFamily="18" charset="0"/>
                <a:cs typeface="Times New Roman" panose="02020603050405020304" pitchFamily="18" charset="0"/>
              </a:rPr>
              <a:t>bjective</a:t>
            </a:r>
            <a:endParaRPr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EC158AA3-055F-C297-70BF-8D23EC7FA482}"/>
              </a:ext>
            </a:extLst>
          </p:cNvPr>
          <p:cNvSpPr txBox="1"/>
          <p:nvPr/>
        </p:nvSpPr>
        <p:spPr>
          <a:xfrm>
            <a:off x="685800" y="1581150"/>
            <a:ext cx="7696200" cy="3202223"/>
          </a:xfrm>
          <a:prstGeom prst="rect">
            <a:avLst/>
          </a:prstGeom>
          <a:noFill/>
        </p:spPr>
        <p:txBody>
          <a:bodyPr wrap="square" rtlCol="0">
            <a:spAutoFit/>
          </a:bodyPr>
          <a:lstStyle/>
          <a:p>
            <a:pPr marL="12700" marR="5080" indent="558800">
              <a:lnSpc>
                <a:spcPct val="127000"/>
              </a:lnSpc>
              <a:spcBef>
                <a:spcPts val="100"/>
              </a:spcBef>
            </a:pPr>
            <a:r>
              <a:rPr lang="en-US" sz="1600" dirty="0">
                <a:latin typeface="Times New Roman" panose="02020603050405020304" pitchFamily="18" charset="0"/>
                <a:cs typeface="Times New Roman" panose="02020603050405020304" pitchFamily="18" charset="0"/>
              </a:rPr>
              <a:t>Primary goal: Design and evaluate a knowledge-graph-augmented, multi-modal RAG system for centrifugal pump documentation that improves factual correctness on multi-hop, causal, and relational maintenance queries beyond vector-only baselines, while providing traceable, expert-correctable answers.  Main research question: Does augmenting multi-modal RAG with a knowledge graph built from text and vision-parsed engineering diagrams, combined with human-in-the-loop verification, significantly improve factual correctness on multi-hop maintenance questions compared to vector-retrieval-only baselines?</a:t>
            </a:r>
          </a:p>
          <a:p>
            <a:pPr marL="12700" marR="5080" indent="558800">
              <a:lnSpc>
                <a:spcPct val="127000"/>
              </a:lnSpc>
              <a:spcBef>
                <a:spcPts val="100"/>
              </a:spcBef>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a:spLocks noGrp="1"/>
          </p:cNvSpPr>
          <p:nvPr>
            <p:ph type="title"/>
          </p:nvPr>
        </p:nvSpPr>
        <p:spPr>
          <a:xfrm>
            <a:off x="2514600" y="971550"/>
            <a:ext cx="3762896" cy="443711"/>
          </a:xfrm>
          <a:prstGeom prst="rect">
            <a:avLst/>
          </a:prstGeom>
        </p:spPr>
        <p:txBody>
          <a:bodyPr vert="horz" wrap="square" lIns="0" tIns="12700" rIns="0" bIns="0" rtlCol="0">
            <a:spAutoFit/>
          </a:bodyPr>
          <a:lstStyle/>
          <a:p>
            <a:pPr marL="12700" marR="5080" algn="ctr">
              <a:lnSpc>
                <a:spcPct val="100000"/>
              </a:lnSpc>
              <a:spcBef>
                <a:spcPts val="100"/>
              </a:spcBef>
            </a:pPr>
            <a:r>
              <a:rPr sz="2800" spc="-5" dirty="0">
                <a:solidFill>
                  <a:srgbClr val="000000"/>
                </a:solidFill>
                <a:latin typeface="Times New Roman" panose="02020603050405020304" pitchFamily="18" charset="0"/>
                <a:cs typeface="Times New Roman" panose="02020603050405020304" pitchFamily="18" charset="0"/>
              </a:rPr>
              <a:t>LITERATURE</a:t>
            </a:r>
            <a:r>
              <a:rPr lang="en-IN" sz="2800" spc="-35" dirty="0" smtClean="0">
                <a:solidFill>
                  <a:srgbClr val="000000"/>
                </a:solidFill>
                <a:latin typeface="Times New Roman" panose="02020603050405020304" pitchFamily="18" charset="0"/>
                <a:cs typeface="Times New Roman" panose="02020603050405020304" pitchFamily="18" charset="0"/>
              </a:rPr>
              <a:t> </a:t>
            </a:r>
            <a:r>
              <a:rPr sz="2800" spc="-45" dirty="0" err="1" smtClean="0">
                <a:solidFill>
                  <a:srgbClr val="000000"/>
                </a:solidFill>
                <a:latin typeface="Times New Roman" panose="02020603050405020304" pitchFamily="18" charset="0"/>
                <a:cs typeface="Times New Roman" panose="02020603050405020304" pitchFamily="18" charset="0"/>
              </a:rPr>
              <a:t>SURVEY</a:t>
            </a:r>
            <a:endParaRPr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EC158AA3-055F-C297-70BF-8D23EC7FA482}"/>
              </a:ext>
            </a:extLst>
          </p:cNvPr>
          <p:cNvSpPr txBox="1"/>
          <p:nvPr/>
        </p:nvSpPr>
        <p:spPr>
          <a:xfrm>
            <a:off x="685800" y="1581150"/>
            <a:ext cx="7696200" cy="3202223"/>
          </a:xfrm>
          <a:prstGeom prst="rect">
            <a:avLst/>
          </a:prstGeom>
          <a:noFill/>
        </p:spPr>
        <p:txBody>
          <a:bodyPr wrap="square" rtlCol="0">
            <a:spAutoFit/>
          </a:bodyPr>
          <a:lstStyle/>
          <a:p>
            <a:pPr marL="12700" marR="5080" indent="558800">
              <a:lnSpc>
                <a:spcPct val="127000"/>
              </a:lnSpc>
              <a:spcBef>
                <a:spcPts val="100"/>
              </a:spcBef>
            </a:pPr>
            <a:r>
              <a:rPr lang="en-US" sz="1350" dirty="0">
                <a:latin typeface="Times New Roman" panose="02020603050405020304" pitchFamily="18" charset="0"/>
                <a:cs typeface="Times New Roman" panose="02020603050405020304" pitchFamily="18" charset="0"/>
              </a:rPr>
              <a:t>1. ManuRAG: Multi-modal RAG for Manufacturing QA — Li, Dong, Ameri, Zhang, Journal of Intelligent Manufacturing (Springer), 2026. Core base paper; multi-modal RAG backbone. Gap: retrieves independent chunks by similarity only, no knowledge graph; 45.75% factual correctness on multi-hop questions.  2. ChatP&amp;ID: GraphRAG for Engineering Diagrams — AIChE Journal (Wiley), 2026. Supporting base paper; first GraphRAG application to P&amp;IDs. Gap: works only on standardized DEXPI-format diagrams, no HITL loop.  3. SOPRAG: Multi-view Graph Experts Retrieval for Industrial SOPs — arXiv preprint, 2026. Structure-aware graph retrieval for procedural documents; procedural focus only.  4. Knowledge graph validation by integrating LLMs and human-in-the-loop — Information Processing &amp; Management (Elsevier), 2025. HITL validation methodology; not tied to a retrieval/QA system.</a:t>
            </a:r>
          </a:p>
          <a:p>
            <a:pPr marL="12700" marR="5080" indent="558800">
              <a:lnSpc>
                <a:spcPct val="127000"/>
              </a:lnSpc>
              <a:spcBef>
                <a:spcPts val="100"/>
              </a:spcBef>
            </a:pPr>
            <a:endParaRPr lang="en-IN" sz="135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p:nvPr/>
        </p:nvSpPr>
        <p:spPr>
          <a:xfrm>
            <a:off x="304800" y="750000"/>
            <a:ext cx="8534400" cy="450000"/>
          </a:xfrm>
          <a:prstGeom prst="rect">
            <a:avLst/>
          </a:prstGeom>
        </p:spPr>
        <p:txBody>
          <a:bodyPr vert="horz" wrap="square" lIns="0" tIns="12700" rIns="0" bIns="0" rtlCol="0">
            <a:spAutoFit/>
          </a:bodyPr>
          <a:lstStyle/>
          <a:p>
            <a:pPr marL="12700" marR="5080">
              <a:lnSpc>
                <a:spcPct val="100000"/>
              </a:lnSpc>
              <a:spcBef>
                <a:spcPts val="100"/>
              </a:spcBef>
            </a:pPr>
            <a:r>
              <a:rPr lang="en-IN" b="1" spc="-20" dirty="0">
                <a:latin typeface="Times New Roman" panose="02020603050405020304" pitchFamily="18" charset="0"/>
                <a:cs typeface="Times New Roman" panose="02020603050405020304" pitchFamily="18" charset="0"/>
              </a:rPr>
              <a:t>LIMITATIONS, MOTIVATION AND IMPACT</a:t>
            </a:r>
            <a:endParaRPr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04800" y="1600000"/>
            <a:ext cx="8534400" cy="3200000"/>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Vector-only RAG gives untraceable answers with no way to correct recurring errors, which is risky for equipment where a wrong diagnosis can cause improper maintenance actions or safety incidents. There is no structural way to identify which retrieved fact caused an error, and tacit expert knowledge never captured in manuals is missed entirely. Solving this improves diagnostic reliability, reduces unplanned downtime, supports maintenance-personnel safety in pressurized/rotating equipment, and helps preserve institutional knowledge as experienced technicians retire. The same GraphRAG plus HITL architecture generalizes to other safety-critical technical domains beyond centrifugal pumps.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92525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p:nvPr/>
        </p:nvSpPr>
        <p:spPr>
          <a:xfrm>
            <a:off x="3124200" y="816911"/>
            <a:ext cx="2895600" cy="289823"/>
          </a:xfrm>
          <a:prstGeom prst="rect">
            <a:avLst/>
          </a:prstGeom>
        </p:spPr>
        <p:txBody>
          <a:bodyPr vert="horz" wrap="square" lIns="0" tIns="12700" rIns="0" bIns="0" rtlCol="0">
            <a:spAutoFit/>
          </a:bodyPr>
          <a:lstStyle/>
          <a:p>
            <a:pPr marL="12700" marR="5080">
              <a:lnSpc>
                <a:spcPct val="100000"/>
              </a:lnSpc>
              <a:spcBef>
                <a:spcPts val="100"/>
              </a:spcBef>
            </a:pPr>
            <a:r>
              <a:rPr lang="en-IN" b="1" dirty="0">
                <a:latin typeface="Times New Roman" panose="02020603050405020304" pitchFamily="18" charset="0"/>
                <a:cs typeface="Times New Roman" panose="02020603050405020304" pitchFamily="18" charset="0"/>
              </a:rPr>
              <a:t>PROPOSED SOLUTION</a:t>
            </a:r>
            <a:endParaRPr b="1"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444783"/>
            <a:ext cx="8077200" cy="3698717"/>
          </a:xfrm>
          <a:prstGeom prst="rect">
            <a:avLst/>
          </a:prstGeom>
        </p:spPr>
      </p:pic>
    </p:spTree>
    <p:extLst>
      <p:ext uri="{BB962C8B-B14F-4D97-AF65-F5344CB8AC3E}">
        <p14:creationId xmlns:p14="http://schemas.microsoft.com/office/powerpoint/2010/main" val="10172706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p:nvPr/>
        </p:nvSpPr>
        <p:spPr>
          <a:xfrm>
            <a:off x="3276600" y="819150"/>
            <a:ext cx="2929983" cy="289823"/>
          </a:xfrm>
          <a:prstGeom prst="rect">
            <a:avLst/>
          </a:prstGeom>
        </p:spPr>
        <p:txBody>
          <a:bodyPr vert="horz" wrap="square" lIns="0" tIns="12700" rIns="0" bIns="0" rtlCol="0">
            <a:spAutoFit/>
          </a:bodyPr>
          <a:lstStyle/>
          <a:p>
            <a:pPr marL="12700" marR="5080">
              <a:lnSpc>
                <a:spcPct val="100000"/>
              </a:lnSpc>
              <a:spcBef>
                <a:spcPts val="100"/>
              </a:spcBef>
            </a:pPr>
            <a:r>
              <a:rPr lang="en-IN" b="1" spc="-20" dirty="0">
                <a:latin typeface="Times New Roman" panose="02020603050405020304" pitchFamily="18" charset="0"/>
                <a:cs typeface="Times New Roman" panose="02020603050405020304" pitchFamily="18" charset="0"/>
              </a:rPr>
              <a:t>SYSTEM ARCHITECTURE</a:t>
            </a:r>
            <a:endParaRPr dirty="0">
              <a:latin typeface="Times New Roman" panose="02020603050405020304" pitchFamily="18" charset="0"/>
              <a:cs typeface="Times New Roman" panose="02020603050405020304" pitchFamily="18" charset="0"/>
            </a:endParaRPr>
          </a:p>
        </p:txBody>
      </p:sp>
      <p:pic>
        <p:nvPicPr>
          <p:cNvPr id="99" name="KG Architecture Diagram"/>
          <p:cNvPicPr>
            <a:picLocks noChangeAspect="1"/>
          </p:cNvPicPr>
          <p:nvPr/>
        </p:nvPicPr>
        <p:blipFill>
          <a:blip r:embed="rId10"/>
          <a:stretch>
            <a:fillRect/>
          </a:stretch>
        </p:blipFill>
        <p:spPr>
          <a:xfrm>
            <a:off x="228600" y="1150000"/>
            <a:ext cx="8686800" cy="3200000"/>
          </a:xfrm>
          <a:prstGeom prst="rect">
            <a:avLst/>
          </a:prstGeom>
        </p:spPr>
      </p:pic>
    </p:spTree>
    <p:extLst>
      <p:ext uri="{BB962C8B-B14F-4D97-AF65-F5344CB8AC3E}">
        <p14:creationId xmlns:p14="http://schemas.microsoft.com/office/powerpoint/2010/main" val="15892525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a:spLocks noGrp="1"/>
          </p:cNvSpPr>
          <p:nvPr>
            <p:ph type="title"/>
          </p:nvPr>
        </p:nvSpPr>
        <p:spPr>
          <a:xfrm>
            <a:off x="685800" y="780000"/>
            <a:ext cx="7696200" cy="450000"/>
          </a:xfrm>
          <a:prstGeom prst="rect">
            <a:avLst/>
          </a:prstGeom>
        </p:spPr>
        <p:txBody>
          <a:bodyPr vert="horz" wrap="square" lIns="0" tIns="12700" rIns="0" bIns="0" rtlCol="0">
            <a:spAutoFit/>
          </a:bodyPr>
          <a:lstStyle/>
          <a:p>
            <a:pPr marL="12700" marR="5080" algn="ctr">
              <a:lnSpc>
                <a:spcPct val="100000"/>
              </a:lnSpc>
              <a:spcBef>
                <a:spcPts val="100"/>
              </a:spcBef>
            </a:pPr>
            <a:r>
              <a:rPr sz="2800" spc="-5" dirty="0">
                <a:solidFill>
                  <a:srgbClr val="000000"/>
                </a:solidFill>
                <a:latin typeface="Times New Roman" panose="02020603050405020304" pitchFamily="18" charset="0"/>
                <a:cs typeface="Times New Roman" panose="02020603050405020304" pitchFamily="18" charset="0"/>
              </a:rPr>
              <a:t>TOOLS </a:t>
            </a:r>
            <a:r>
              <a:rPr lang="en-IN" sz="2800" spc="-35" dirty="0" smtClean="0">
                <a:solidFill>
                  <a:srgbClr val="000000"/>
                </a:solidFill>
                <a:latin typeface="Times New Roman" panose="02020603050405020304" pitchFamily="18" charset="0"/>
                <a:cs typeface="Times New Roman" panose="02020603050405020304" pitchFamily="18" charset="0"/>
              </a:rPr>
              <a:t>A</a:t>
            </a:r>
            <a:r>
              <a:rPr sz="2800" spc="-45" dirty="0" err="1" smtClean="0">
                <a:solidFill>
                  <a:srgbClr val="000000"/>
                </a:solidFill>
                <a:latin typeface="Times New Roman" panose="02020603050405020304" pitchFamily="18" charset="0"/>
                <a:cs typeface="Times New Roman" panose="02020603050405020304" pitchFamily="18" charset="0"/>
              </a:rPr>
              <a:t>ND TECHNOLOGY</a:t>
            </a:r>
            <a:endParaRPr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EC158AA3-055F-C297-70BF-8D23EC7FA482}"/>
              </a:ext>
            </a:extLst>
          </p:cNvPr>
          <p:cNvSpPr txBox="1"/>
          <p:nvPr/>
        </p:nvSpPr>
        <p:spPr>
          <a:xfrm>
            <a:off x="685800" y="1450000"/>
            <a:ext cx="7696200" cy="3202223"/>
          </a:xfrm>
          <a:prstGeom prst="rect">
            <a:avLst/>
          </a:prstGeom>
          <a:noFill/>
        </p:spPr>
        <p:txBody>
          <a:bodyPr wrap="square" rtlCol="0">
            <a:spAutoFit/>
          </a:bodyPr>
          <a:lstStyle/>
          <a:p>
            <a:pPr marL="12700" marR="5080" indent="558800">
              <a:lnSpc>
                <a:spcPct val="127000"/>
              </a:lnSpc>
              <a:spcBef>
                <a:spcPts val="100"/>
              </a:spcBef>
            </a:pPr>
            <a:r>
              <a:rPr lang="en-US" sz="1600" dirty="0">
                <a:latin typeface="Times New Roman" panose="02020603050405020304" pitchFamily="18" charset="0"/>
                <a:cs typeface="Times New Roman" panose="02020603050405020304" pitchFamily="18" charset="0"/>
              </a:rPr>
              <a:t>Backend: FastAPI (Python).  LLM and Vision: Cohere (text generation and embeddings), Gemini Vision (image and P&amp;ID parsing).  Database: PostgreSQL / Supabase with pgvector for vector storage; Neo4j or Postgres adjacency tables for the knowledge graph.  Frontend: React and Vite, with React Flow for the Knowledge Graph Explorer.  Object storage: S3 for raw extracted images and diagrams.  Orchestration: LangChain and LangGraph for retrieval routing between vector, graph, and hybrid paths.  Evaluation: RAGAS framework for factual correctness, context precision and recall.  HITL interface: Verification Dashboard, extended to support graph-edge-level correction.</a:t>
            </a:r>
          </a:p>
          <a:p>
            <a:pPr marL="12700" marR="5080" indent="558800">
              <a:lnSpc>
                <a:spcPct val="127000"/>
              </a:lnSpc>
              <a:spcBef>
                <a:spcPts val="100"/>
              </a:spcBef>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13" y="195484"/>
            <a:ext cx="1200000" cy="243656"/>
          </a:xfrm>
          <a:prstGeom prst="rect">
            <a:avLst/>
          </a:prstGeom>
        </p:spPr>
        <p:txBody>
          <a:bodyPr vert="horz" wrap="square" lIns="0" tIns="12700" rIns="0" bIns="0" rtlCol="0">
            <a:spAutoFit/>
          </a:bodyPr>
          <a:lstStyle/>
          <a:p>
            <a:pPr marL="12700">
              <a:lnSpc>
                <a:spcPct val="100000"/>
              </a:lnSpc>
              <a:spcBef>
                <a:spcPts val="100"/>
              </a:spcBef>
            </a:pPr>
            <a:r>
              <a:rPr lang="en-IN" sz="1500" b="1" spc="-10" dirty="0" smtClean="0">
                <a:solidFill>
                  <a:srgbClr val="FFFFFF"/>
                </a:solidFill>
                <a:latin typeface="Roboto"/>
                <a:cs typeface="Roboto"/>
              </a:rPr>
              <a:t>20CJPJ901</a:t>
            </a:r>
            <a:endParaRPr sz="1500" dirty="0">
              <a:latin typeface="Roboto"/>
              <a:cs typeface="Roboto"/>
            </a:endParaRPr>
          </a:p>
        </p:txBody>
      </p:sp>
      <p:sp>
        <p:nvSpPr>
          <p:cNvPr id="3" name="object 3"/>
          <p:cNvSpPr txBox="1">
            <a:spLocks noGrp="1"/>
          </p:cNvSpPr>
          <p:nvPr>
            <p:ph type="title"/>
          </p:nvPr>
        </p:nvSpPr>
        <p:spPr>
          <a:xfrm>
            <a:off x="3082721" y="2400920"/>
            <a:ext cx="3165679" cy="566822"/>
          </a:xfrm>
          <a:prstGeom prst="rect">
            <a:avLst/>
          </a:prstGeom>
        </p:spPr>
        <p:txBody>
          <a:bodyPr vert="horz" wrap="square" lIns="0" tIns="12700" rIns="0" bIns="0" rtlCol="0">
            <a:spAutoFit/>
          </a:bodyPr>
          <a:lstStyle/>
          <a:p>
            <a:pPr marL="12700" marR="5080">
              <a:lnSpc>
                <a:spcPct val="100000"/>
              </a:lnSpc>
              <a:spcBef>
                <a:spcPts val="100"/>
              </a:spcBef>
            </a:pPr>
            <a:r>
              <a:rPr sz="3600" i="1" spc="-5" dirty="0">
                <a:solidFill>
                  <a:srgbClr val="000000"/>
                </a:solidFill>
                <a:latin typeface="Carlito"/>
                <a:cs typeface="Carlito"/>
              </a:rPr>
              <a:t>THANK  </a:t>
            </a:r>
            <a:r>
              <a:rPr sz="3600" i="1" spc="-110" dirty="0">
                <a:solidFill>
                  <a:srgbClr val="000000"/>
                </a:solidFill>
                <a:latin typeface="Carlito"/>
                <a:cs typeface="Carlito"/>
              </a:rPr>
              <a:t>Y</a:t>
            </a:r>
            <a:r>
              <a:rPr sz="3600" i="1" spc="-5" dirty="0">
                <a:solidFill>
                  <a:srgbClr val="000000"/>
                </a:solidFill>
                <a:latin typeface="Carlito"/>
                <a:cs typeface="Carlito"/>
              </a:rPr>
              <a:t>O</a:t>
            </a:r>
            <a:r>
              <a:rPr sz="3600" i="1" dirty="0">
                <a:solidFill>
                  <a:srgbClr val="000000"/>
                </a:solidFill>
                <a:latin typeface="Carlito"/>
                <a:cs typeface="Carlito"/>
              </a:rPr>
              <a:t>U</a:t>
            </a:r>
            <a:r>
              <a:rPr sz="3600" i="1" dirty="0">
                <a:solidFill>
                  <a:srgbClr val="000000"/>
                </a:solidFill>
                <a:latin typeface="Arial"/>
                <a:cs typeface="Arial"/>
              </a:rPr>
              <a:t>…</a:t>
            </a:r>
            <a:r>
              <a:rPr sz="3600" i="1" dirty="0">
                <a:solidFill>
                  <a:srgbClr val="000000"/>
                </a:solidFill>
                <a:latin typeface="Carlito"/>
                <a:cs typeface="Carlito"/>
              </a:rPr>
              <a:t>!</a:t>
            </a:r>
            <a:endParaRPr sz="3600">
              <a:latin typeface="Carlito"/>
              <a:cs typeface="Carli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1495</TotalTime>
  <Words>1789</Words>
  <Application>Microsoft Office PowerPoint</Application>
  <PresentationFormat>On-screen Show (16:9)</PresentationFormat>
  <Paragraphs>162</Paragraphs>
  <Slides>32</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32</vt:i4>
      </vt:variant>
    </vt:vector>
  </HeadingPairs>
  <TitlesOfParts>
    <vt:vector size="45" baseType="lpstr">
      <vt:lpstr>Aptos</vt:lpstr>
      <vt:lpstr>Aptos Display</vt:lpstr>
      <vt:lpstr>Arial</vt:lpstr>
      <vt:lpstr>Arial,Sans-Serif</vt:lpstr>
      <vt:lpstr>Calibri</vt:lpstr>
      <vt:lpstr>Carlito</vt:lpstr>
      <vt:lpstr>Montserrat 1</vt:lpstr>
      <vt:lpstr>Oswald Bold</vt:lpstr>
      <vt:lpstr>Roboto</vt:lpstr>
      <vt:lpstr>Roboto Bold</vt:lpstr>
      <vt:lpstr>Times New Roman</vt:lpstr>
      <vt:lpstr>Trebuchet MS</vt:lpstr>
      <vt:lpstr>Office Theme</vt:lpstr>
      <vt:lpstr>PowerPoint Presentation</vt:lpstr>
      <vt:lpstr>Problem  Statement</vt:lpstr>
      <vt:lpstr>SDG GOAL</vt:lpstr>
      <vt:lpstr>Case Study</vt:lpstr>
      <vt:lpstr>ABSTRACT</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Familiarization Scene  is designed to introduce autistic children to new environments, people, and objects in a safe, controlled virtual setting. This scene reduces anxiety and fear by providing gradual exposure, helping children build comfort, familiarity, and confidence before transitioning to real-world experiences. </vt:lpstr>
      <vt:lpstr>Using ConvoAI, the child can give commands to perform various tasks, enhancing their learning experience and Encourages initiating conversation with an AI friend, fostering confidence in social interactions. improving cognitive and communication skills. </vt:lpstr>
      <vt:lpstr>The Number-Scene incorporates multiple scenes, each designed to target specific skills such as social interaction, emotional regulation, daily routines, and cognitive abilities. These scenes simulate real-world environments and scenarios, providing children with ASD a safe, immersive, and controlled space to learn and practice essential skills effectively. </vt:lpstr>
      <vt:lpstr>Doctor's Advice and Commitment A virtual meeting was conducted with Dr. Sugaparaneetharan, a renowned psychiatrist from Ahanaa Hospital, to discuss the potential impact of the VR-based cognitive and social skill development tool for children with Autism Spectrum Disorder (ASD) and Intellectual Disabilities (ID). Key Discussion Points: ● The tool's ability to enhance cognitive, behavioral, and social skills in children. ● The role of customizable VR environments in meeting the specific needs of children with ASD and ID. ● The potential for this tool to act as a bridge for children to better integrate into real-world scenarios.</vt:lpstr>
      <vt:lpstr>A field visit was conducted to Eden Preschool, an early childhood education institution specializing in inclusive learning for children, including those with autism and intellectual disabilities. The visit aimed to understand the specific needs of the children and educators, assess the potential of implementing VR-based educational tools, and gather feedback for product enhancement.  Key Observations: ● The preschool caters to a diverse group of children, with a particular focus on those with developmental delays. ● The educators expressed interest in using technology to enhance social interaction, learning engagement, and emotional development among the children. ● The potential for VR-based tools to support individualized learning and behavioral development was identified as a key area of impact</vt:lpstr>
      <vt:lpstr>A field visit was conducted to Eden Preschool, an early childhood education institution specializing in inclusive learning for children, including those with autism and intellectual disabilities. The visit aimed to understand the specific needs of the children and educators, assess the potential of implementing VR-based educational tools, and gather feedback for product enhancement.  Key Observations: ● The preschool caters to a diverse group of children, with a particular focus on those with developmental delays. ● The educators expressed interest in using technology to enhance social interaction, learning engagement, and emotional development among the children. ● The potential for VR-based tools to support individualized learning and behavioral development was identified as a key area of impact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3 (2) final (1).pptx</dc:title>
  <dc:creator>Sabari Radhakrishnan</dc:creator>
  <cp:lastModifiedBy>Microsoft account</cp:lastModifiedBy>
  <cp:revision>45</cp:revision>
  <dcterms:created xsi:type="dcterms:W3CDTF">2023-11-03T14:51:07Z</dcterms:created>
  <dcterms:modified xsi:type="dcterms:W3CDTF">2025-12-16T17:17:37Z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LastSaved">
    <vt:filetime>2023-11-03T00:00:00Z</vt:filetime>
  </property>
</Properties>
</file>